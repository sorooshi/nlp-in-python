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1"/>
          <p:cNvSpPr txBox="1"/>
          <p:nvPr/>
        </p:nvSpPr>
        <p:spPr>
          <a:xfrm>
            <a:off x="631956" y="2222328"/>
            <a:ext cx="10915388" cy="489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000"/>
            </a:lvl1pPr>
          </a:lstStyle>
          <a:p>
            <a:pPr/>
            <a:r>
              <a:t>Post-training: Instruction Tuning, Alignment, and Test-Time Compute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Box 1"/>
          <p:cNvSpPr txBox="1"/>
          <p:nvPr/>
        </p:nvSpPr>
        <p:spPr>
          <a:xfrm>
            <a:off x="3636697" y="1564254"/>
            <a:ext cx="3428366" cy="392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400"/>
            </a:lvl1pPr>
          </a:lstStyle>
          <a:p>
            <a:pPr/>
            <a:r>
              <a:t>Why Post-training Matters</a:t>
            </a:r>
          </a:p>
        </p:txBody>
      </p:sp>
      <p:sp>
        <p:nvSpPr>
          <p:cNvPr id="97" name="TextBox 2"/>
          <p:cNvSpPr txBox="1"/>
          <p:nvPr/>
        </p:nvSpPr>
        <p:spPr>
          <a:xfrm>
            <a:off x="3583968" y="2269476"/>
            <a:ext cx="5011364" cy="2473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000"/>
            </a:pPr>
            <a:r>
              <a:t>- Base LLMs are trained only to predict the next token</a:t>
            </a:r>
          </a:p>
          <a:p>
            <a:pPr>
              <a:defRPr sz="2000"/>
            </a:pPr>
            <a:r>
              <a:t>- </a:t>
            </a:r>
            <a:r>
              <a:t>They often ignore instructions, hallucinate, or generate harmful content</a:t>
            </a:r>
          </a:p>
          <a:p>
            <a:pPr>
              <a:defRPr sz="2000"/>
            </a:pPr>
          </a:p>
          <a:p>
            <a:pPr>
              <a:defRPr sz="2000"/>
            </a:pPr>
          </a:p>
          <a:p>
            <a:pPr>
              <a:defRPr sz="2000"/>
            </a:pPr>
            <a:r>
              <a:t>Post-training makes models more helpful, safe, and controllable</a:t>
            </a:r>
          </a:p>
        </p:txBody>
      </p:sp>
      <p:sp>
        <p:nvSpPr>
          <p:cNvPr id="98" name="Rectangle"/>
          <p:cNvSpPr/>
          <p:nvPr/>
        </p:nvSpPr>
        <p:spPr>
          <a:xfrm>
            <a:off x="3313362" y="1353903"/>
            <a:ext cx="5552576" cy="4150194"/>
          </a:xfrm>
          <a:prstGeom prst="rect">
            <a:avLst/>
          </a:prstGeom>
          <a:gradFill>
            <a:gsLst>
              <a:gs pos="0">
                <a:schemeClr val="accent4">
                  <a:hueOff val="-206663"/>
                  <a:satOff val="29896"/>
                  <a:lumOff val="29240"/>
                  <a:alpha val="14472"/>
                </a:schemeClr>
              </a:gs>
              <a:gs pos="35000">
                <a:srgbClr val="D8C9EE">
                  <a:alpha val="14472"/>
                </a:srgbClr>
              </a:gs>
              <a:gs pos="100000">
                <a:schemeClr val="accent4">
                  <a:hueOff val="-242556"/>
                  <a:satOff val="32941"/>
                  <a:lumOff val="43328"/>
                  <a:alpha val="14472"/>
                </a:schemeClr>
              </a:gs>
            </a:gsLst>
            <a:lin ang="16200000"/>
          </a:gradFill>
          <a:ln>
            <a:solidFill>
              <a:srgbClr val="7D60A0">
                <a:alpha val="14472"/>
              </a:srgbClr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>
              <a:defRPr sz="1600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1"/>
          <p:cNvSpPr txBox="1"/>
          <p:nvPr/>
        </p:nvSpPr>
        <p:spPr>
          <a:xfrm>
            <a:off x="3707422" y="1446516"/>
            <a:ext cx="4555144" cy="392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400"/>
            </a:lvl1pPr>
          </a:lstStyle>
          <a:p>
            <a:pPr/>
            <a:r>
              <a:t>Two Core Problems of Base Models</a:t>
            </a:r>
          </a:p>
        </p:txBody>
      </p:sp>
      <p:sp>
        <p:nvSpPr>
          <p:cNvPr id="101" name="TextBox 2"/>
          <p:cNvSpPr txBox="1"/>
          <p:nvPr/>
        </p:nvSpPr>
        <p:spPr>
          <a:xfrm>
            <a:off x="3384089" y="2269476"/>
            <a:ext cx="5201810" cy="24737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000"/>
            </a:pPr>
            <a:r>
              <a:t>- Not sufficiently helpful: fail to follow user instructions</a:t>
            </a:r>
          </a:p>
          <a:p>
            <a:pPr>
              <a:defRPr sz="2000"/>
            </a:pPr>
            <a:r>
              <a:t>- </a:t>
            </a:r>
            <a:r>
              <a:t>Not sufficiently safe: may produce harmful, false, or toxic outputs</a:t>
            </a:r>
          </a:p>
          <a:p>
            <a:pPr>
              <a:defRPr sz="2000"/>
            </a:pPr>
          </a:p>
          <a:p>
            <a:pPr>
              <a:defRPr sz="2000"/>
            </a:pPr>
          </a:p>
          <a:p>
            <a:pPr>
              <a:defRPr sz="2000"/>
            </a:pPr>
            <a:r>
              <a:t>Post-training aligns model behavior with human goals</a:t>
            </a:r>
          </a:p>
        </p:txBody>
      </p:sp>
      <p:sp>
        <p:nvSpPr>
          <p:cNvPr id="102" name="Rectangle"/>
          <p:cNvSpPr/>
          <p:nvPr/>
        </p:nvSpPr>
        <p:spPr>
          <a:xfrm>
            <a:off x="3313362" y="1353903"/>
            <a:ext cx="5552576" cy="4150194"/>
          </a:xfrm>
          <a:prstGeom prst="rect">
            <a:avLst/>
          </a:prstGeom>
          <a:gradFill>
            <a:gsLst>
              <a:gs pos="0">
                <a:schemeClr val="accent4">
                  <a:hueOff val="-206663"/>
                  <a:satOff val="29896"/>
                  <a:lumOff val="29240"/>
                  <a:alpha val="14472"/>
                </a:schemeClr>
              </a:gs>
              <a:gs pos="35000">
                <a:srgbClr val="D8C9EE">
                  <a:alpha val="14472"/>
                </a:srgbClr>
              </a:gs>
              <a:gs pos="100000">
                <a:schemeClr val="accent4">
                  <a:hueOff val="-242556"/>
                  <a:satOff val="32941"/>
                  <a:lumOff val="43328"/>
                  <a:alpha val="14472"/>
                </a:schemeClr>
              </a:gs>
            </a:gsLst>
            <a:lin ang="16200000"/>
          </a:gradFill>
          <a:ln>
            <a:solidFill>
              <a:srgbClr val="7D60A0">
                <a:alpha val="14472"/>
              </a:srgbClr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>
              <a:defRPr sz="1600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Box 1"/>
          <p:cNvSpPr txBox="1"/>
          <p:nvPr/>
        </p:nvSpPr>
        <p:spPr>
          <a:xfrm>
            <a:off x="411479" y="182879"/>
            <a:ext cx="7533195" cy="392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400"/>
            </a:lvl1pPr>
          </a:lstStyle>
          <a:p>
            <a:pPr/>
            <a:r>
              <a:t>Instruction Tuning Compared to Other Finetuning Methods</a:t>
            </a:r>
          </a:p>
        </p:txBody>
      </p:sp>
      <p:pic>
        <p:nvPicPr>
          <p:cNvPr id="105" name="Screenshot 2026-04-10 at 10.40.04 AM.png" descr="Screenshot 2026-04-10 at 10.40.04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12133" y="565646"/>
            <a:ext cx="6555034" cy="572670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Box 1"/>
          <p:cNvSpPr txBox="1"/>
          <p:nvPr/>
        </p:nvSpPr>
        <p:spPr>
          <a:xfrm>
            <a:off x="643872" y="2292847"/>
            <a:ext cx="3088145" cy="392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400"/>
            </a:lvl1pPr>
          </a:lstStyle>
          <a:p>
            <a:pPr/>
            <a:r>
              <a:t>Instruction Tuning (SFT)</a:t>
            </a:r>
          </a:p>
        </p:txBody>
      </p:sp>
      <p:sp>
        <p:nvSpPr>
          <p:cNvPr id="108" name="TextBox 2"/>
          <p:cNvSpPr txBox="1"/>
          <p:nvPr/>
        </p:nvSpPr>
        <p:spPr>
          <a:xfrm>
            <a:off x="578061" y="3110407"/>
            <a:ext cx="5060651" cy="1559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000"/>
            </a:pPr>
            <a:r>
              <a:t>Finetune a pretrained model on instruction-response pairs</a:t>
            </a:r>
          </a:p>
          <a:p>
            <a:pPr>
              <a:defRPr sz="2000"/>
            </a:pPr>
            <a:r>
              <a:t>Still uses the next-token prediction objective</a:t>
            </a:r>
          </a:p>
          <a:p>
            <a:pPr>
              <a:defRPr sz="2000"/>
            </a:pPr>
            <a:r>
              <a:t>The model learns to follow instructions across many tasks</a:t>
            </a:r>
          </a:p>
        </p:txBody>
      </p:sp>
      <p:sp>
        <p:nvSpPr>
          <p:cNvPr id="109" name="TextBox 1"/>
          <p:cNvSpPr txBox="1"/>
          <p:nvPr/>
        </p:nvSpPr>
        <p:spPr>
          <a:xfrm>
            <a:off x="5875973" y="1350946"/>
            <a:ext cx="5493505" cy="392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400"/>
            </a:lvl1pPr>
          </a:lstStyle>
          <a:p>
            <a:pPr/>
            <a:r>
              <a:t>Instruction Examples from the Aya Dataset</a:t>
            </a:r>
          </a:p>
        </p:txBody>
      </p:sp>
      <p:pic>
        <p:nvPicPr>
          <p:cNvPr id="110" name="Screenshot 2026-04-10 at 10.41.29 AM.png" descr="Screenshot 2026-04-10 at 10.41.29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660617" y="1867603"/>
            <a:ext cx="6316677" cy="4044991"/>
          </a:xfrm>
          <a:prstGeom prst="rect">
            <a:avLst/>
          </a:prstGeom>
          <a:ln w="12700">
            <a:miter lim="400000"/>
          </a:ln>
        </p:spPr>
      </p:pic>
      <p:sp>
        <p:nvSpPr>
          <p:cNvPr id="111" name="Rectangle"/>
          <p:cNvSpPr/>
          <p:nvPr/>
        </p:nvSpPr>
        <p:spPr>
          <a:xfrm>
            <a:off x="206769" y="1992969"/>
            <a:ext cx="5552576" cy="3794259"/>
          </a:xfrm>
          <a:prstGeom prst="rect">
            <a:avLst/>
          </a:prstGeom>
          <a:gradFill>
            <a:gsLst>
              <a:gs pos="0">
                <a:schemeClr val="accent4">
                  <a:hueOff val="-206663"/>
                  <a:satOff val="29896"/>
                  <a:lumOff val="29240"/>
                  <a:alpha val="14472"/>
                </a:schemeClr>
              </a:gs>
              <a:gs pos="35000">
                <a:srgbClr val="D8C9EE">
                  <a:alpha val="14472"/>
                </a:srgbClr>
              </a:gs>
              <a:gs pos="100000">
                <a:schemeClr val="accent4">
                  <a:hueOff val="-242556"/>
                  <a:satOff val="32941"/>
                  <a:lumOff val="43328"/>
                  <a:alpha val="14472"/>
                </a:schemeClr>
              </a:gs>
            </a:gsLst>
            <a:lin ang="16200000"/>
          </a:gradFill>
          <a:ln>
            <a:solidFill>
              <a:srgbClr val="7D60A0">
                <a:alpha val="14472"/>
              </a:srgbClr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>
              <a:defRPr sz="1600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Box 1"/>
          <p:cNvSpPr txBox="1"/>
          <p:nvPr/>
        </p:nvSpPr>
        <p:spPr>
          <a:xfrm>
            <a:off x="753653" y="2266576"/>
            <a:ext cx="4704865" cy="392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400"/>
            </a:lvl1pPr>
          </a:lstStyle>
          <a:p>
            <a:pPr/>
            <a:r>
              <a:t>Where Instruction Data Comes From</a:t>
            </a:r>
          </a:p>
        </p:txBody>
      </p:sp>
      <p:sp>
        <p:nvSpPr>
          <p:cNvPr id="114" name="TextBox 2"/>
          <p:cNvSpPr txBox="1"/>
          <p:nvPr/>
        </p:nvSpPr>
        <p:spPr>
          <a:xfrm>
            <a:off x="747989" y="3089536"/>
            <a:ext cx="5030893" cy="1864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000"/>
            </a:pPr>
            <a:r>
              <a:t>- Human-written instructions and demonstrations</a:t>
            </a:r>
          </a:p>
          <a:p>
            <a:pPr>
              <a:defRPr sz="2000"/>
            </a:pPr>
            <a:r>
              <a:t>- </a:t>
            </a:r>
            <a:r>
              <a:t>Existing NLP datasets converted into prompts</a:t>
            </a:r>
          </a:p>
          <a:p>
            <a:pPr>
              <a:defRPr sz="2000"/>
            </a:pPr>
            <a:r>
              <a:t>- </a:t>
            </a:r>
            <a:r>
              <a:t>Crowdsourcing guidelines reused as prompts</a:t>
            </a:r>
          </a:p>
          <a:p>
            <a:pPr>
              <a:defRPr sz="2000"/>
            </a:pPr>
            <a:r>
              <a:t>- </a:t>
            </a:r>
            <a:r>
              <a:t>Synthetic instructions generated by language models</a:t>
            </a:r>
          </a:p>
        </p:txBody>
      </p:sp>
      <p:sp>
        <p:nvSpPr>
          <p:cNvPr id="115" name="TextBox 1"/>
          <p:cNvSpPr txBox="1"/>
          <p:nvPr/>
        </p:nvSpPr>
        <p:spPr>
          <a:xfrm>
            <a:off x="6703311" y="2266576"/>
            <a:ext cx="4740137" cy="392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400"/>
            </a:lvl1pPr>
          </a:lstStyle>
          <a:p>
            <a:pPr/>
            <a:r>
              <a:t>Evaluating Instruction-Tuned Models</a:t>
            </a:r>
          </a:p>
        </p:txBody>
      </p:sp>
      <p:sp>
        <p:nvSpPr>
          <p:cNvPr id="116" name="TextBox 2"/>
          <p:cNvSpPr txBox="1"/>
          <p:nvPr/>
        </p:nvSpPr>
        <p:spPr>
          <a:xfrm>
            <a:off x="6662649" y="3241936"/>
            <a:ext cx="5030893" cy="12545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000"/>
            </a:pPr>
            <a:r>
              <a:t>- Goal: generalize to unseen tasks</a:t>
            </a:r>
          </a:p>
          <a:p>
            <a:pPr>
              <a:defRPr sz="2000"/>
            </a:pPr>
            <a:r>
              <a:t>- </a:t>
            </a:r>
            <a:r>
              <a:t>Leave-one-task-cluster-out evaluation</a:t>
            </a:r>
          </a:p>
          <a:p>
            <a:pPr>
              <a:defRPr sz="2000"/>
            </a:pPr>
            <a:r>
              <a:t>- </a:t>
            </a:r>
            <a:r>
              <a:t>Held-out task families test true instruction following</a:t>
            </a:r>
          </a:p>
        </p:txBody>
      </p:sp>
      <p:sp>
        <p:nvSpPr>
          <p:cNvPr id="117" name="Rectangle"/>
          <p:cNvSpPr/>
          <p:nvPr/>
        </p:nvSpPr>
        <p:spPr>
          <a:xfrm>
            <a:off x="329632" y="1778468"/>
            <a:ext cx="5552576" cy="3380701"/>
          </a:xfrm>
          <a:prstGeom prst="rect">
            <a:avLst/>
          </a:prstGeom>
          <a:gradFill>
            <a:gsLst>
              <a:gs pos="0">
                <a:schemeClr val="accent4">
                  <a:hueOff val="-206663"/>
                  <a:satOff val="29896"/>
                  <a:lumOff val="29240"/>
                  <a:alpha val="14472"/>
                </a:schemeClr>
              </a:gs>
              <a:gs pos="35000">
                <a:srgbClr val="D8C9EE">
                  <a:alpha val="14472"/>
                </a:srgbClr>
              </a:gs>
              <a:gs pos="100000">
                <a:schemeClr val="accent4">
                  <a:hueOff val="-242556"/>
                  <a:satOff val="32941"/>
                  <a:lumOff val="43328"/>
                  <a:alpha val="14472"/>
                </a:schemeClr>
              </a:gs>
            </a:gsLst>
            <a:lin ang="16200000"/>
          </a:gradFill>
          <a:ln>
            <a:solidFill>
              <a:srgbClr val="7D60A0">
                <a:alpha val="14472"/>
              </a:srgbClr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>
              <a:defRPr sz="1600"/>
            </a:pPr>
          </a:p>
        </p:txBody>
      </p:sp>
      <p:sp>
        <p:nvSpPr>
          <p:cNvPr id="118" name="Rectangle"/>
          <p:cNvSpPr/>
          <p:nvPr/>
        </p:nvSpPr>
        <p:spPr>
          <a:xfrm>
            <a:off x="6297092" y="1778468"/>
            <a:ext cx="5552576" cy="3380701"/>
          </a:xfrm>
          <a:prstGeom prst="rect">
            <a:avLst/>
          </a:prstGeom>
          <a:gradFill>
            <a:gsLst>
              <a:gs pos="0">
                <a:schemeClr val="accent4">
                  <a:hueOff val="-206663"/>
                  <a:satOff val="29896"/>
                  <a:lumOff val="29240"/>
                  <a:alpha val="14472"/>
                </a:schemeClr>
              </a:gs>
              <a:gs pos="35000">
                <a:srgbClr val="D8C9EE">
                  <a:alpha val="14472"/>
                </a:srgbClr>
              </a:gs>
              <a:gs pos="100000">
                <a:schemeClr val="accent4">
                  <a:hueOff val="-242556"/>
                  <a:satOff val="32941"/>
                  <a:lumOff val="43328"/>
                  <a:alpha val="14472"/>
                </a:schemeClr>
              </a:gs>
            </a:gsLst>
            <a:lin ang="16200000"/>
          </a:gradFill>
          <a:ln>
            <a:solidFill>
              <a:srgbClr val="7D60A0">
                <a:alpha val="14472"/>
              </a:srgbClr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>
              <a:defRPr sz="1600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Box 1"/>
          <p:cNvSpPr txBox="1"/>
          <p:nvPr/>
        </p:nvSpPr>
        <p:spPr>
          <a:xfrm>
            <a:off x="231762" y="869285"/>
            <a:ext cx="3429855" cy="392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400"/>
            </a:lvl1pPr>
          </a:lstStyle>
          <a:p>
            <a:pPr/>
            <a:r>
              <a:t>Learning from Preferences</a:t>
            </a:r>
          </a:p>
        </p:txBody>
      </p:sp>
      <p:sp>
        <p:nvSpPr>
          <p:cNvPr id="121" name="TextBox 2"/>
          <p:cNvSpPr txBox="1"/>
          <p:nvPr/>
        </p:nvSpPr>
        <p:spPr>
          <a:xfrm>
            <a:off x="249430" y="1587251"/>
            <a:ext cx="5465909" cy="1559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000"/>
            </a:pPr>
            <a:r>
              <a:t>- Instruction tuning is not enough for alignment</a:t>
            </a:r>
          </a:p>
          <a:p>
            <a:pPr>
              <a:defRPr sz="2000"/>
            </a:pPr>
            <a:r>
              <a:t>- </a:t>
            </a:r>
            <a:r>
              <a:t>Preference learning teaches models what humans prefer</a:t>
            </a:r>
          </a:p>
          <a:p>
            <a:pPr>
              <a:defRPr sz="2000"/>
            </a:pPr>
            <a:r>
              <a:t>- </a:t>
            </a:r>
            <a:r>
              <a:t>Targets helpfulness, harmlessness, honesty, and correctness</a:t>
            </a:r>
          </a:p>
        </p:txBody>
      </p:sp>
      <p:sp>
        <p:nvSpPr>
          <p:cNvPr id="122" name="TextBox 1"/>
          <p:cNvSpPr txBox="1"/>
          <p:nvPr/>
        </p:nvSpPr>
        <p:spPr>
          <a:xfrm>
            <a:off x="6076426" y="869285"/>
            <a:ext cx="2131776" cy="392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400"/>
            </a:lvl1pPr>
          </a:lstStyle>
          <a:p>
            <a:pPr/>
            <a:r>
              <a:t>Preference Data</a:t>
            </a:r>
          </a:p>
        </p:txBody>
      </p:sp>
      <p:sp>
        <p:nvSpPr>
          <p:cNvPr id="123" name="TextBox 2"/>
          <p:cNvSpPr txBox="1"/>
          <p:nvPr/>
        </p:nvSpPr>
        <p:spPr>
          <a:xfrm>
            <a:off x="6000220" y="1587251"/>
            <a:ext cx="5229139" cy="1559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000"/>
            </a:pPr>
            <a:r>
              <a:t>- Humans compare alternative model outputs</a:t>
            </a:r>
          </a:p>
          <a:p>
            <a:pPr>
              <a:defRPr sz="2000"/>
            </a:pPr>
            <a:r>
              <a:t>- </a:t>
            </a:r>
            <a:r>
              <a:t>Data may come from annotators, social media votes, or other LLMs</a:t>
            </a:r>
          </a:p>
          <a:p>
            <a:pPr>
              <a:defRPr sz="2000"/>
            </a:pPr>
            <a:r>
              <a:t>- </a:t>
            </a:r>
            <a:r>
              <a:t>Chosen response vs rejected response creates supervision</a:t>
            </a:r>
          </a:p>
        </p:txBody>
      </p:sp>
      <p:sp>
        <p:nvSpPr>
          <p:cNvPr id="124" name="TextBox 1"/>
          <p:cNvSpPr txBox="1"/>
          <p:nvPr/>
        </p:nvSpPr>
        <p:spPr>
          <a:xfrm>
            <a:off x="64174" y="3565457"/>
            <a:ext cx="4114762" cy="392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400"/>
            </a:lvl1pPr>
          </a:lstStyle>
          <a:p>
            <a:pPr/>
            <a:r>
              <a:t>Bradley-Terry Preference Model</a:t>
            </a:r>
          </a:p>
        </p:txBody>
      </p:sp>
      <p:sp>
        <p:nvSpPr>
          <p:cNvPr id="125" name="TextBox 2"/>
          <p:cNvSpPr txBox="1"/>
          <p:nvPr/>
        </p:nvSpPr>
        <p:spPr>
          <a:xfrm>
            <a:off x="201334" y="4096767"/>
            <a:ext cx="5562101" cy="1864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000"/>
            </a:pPr>
            <a:r>
              <a:t>- Preference probability is modeled using a logistic sigmoid</a:t>
            </a:r>
          </a:p>
          <a:p>
            <a:pPr>
              <a:defRPr sz="2000"/>
            </a:pPr>
            <a:r>
              <a:t>- </a:t>
            </a:r>
            <a:r>
              <a:t>The preferred output should receive a higher reward score</a:t>
            </a:r>
          </a:p>
          <a:p>
            <a:pPr>
              <a:defRPr sz="2000"/>
            </a:pPr>
            <a:r>
              <a:t>- </a:t>
            </a:r>
            <a:r>
              <a:t>Differences in reward scores determine preference probabilities</a:t>
            </a:r>
          </a:p>
        </p:txBody>
      </p:sp>
      <p:sp>
        <p:nvSpPr>
          <p:cNvPr id="126" name="TextBox 1"/>
          <p:cNvSpPr txBox="1"/>
          <p:nvPr/>
        </p:nvSpPr>
        <p:spPr>
          <a:xfrm>
            <a:off x="6103141" y="3472129"/>
            <a:ext cx="2078346" cy="392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400"/>
            </a:lvl1pPr>
          </a:lstStyle>
          <a:p>
            <a:pPr/>
            <a:r>
              <a:t>Reward Models</a:t>
            </a:r>
          </a:p>
        </p:txBody>
      </p:sp>
      <p:sp>
        <p:nvSpPr>
          <p:cNvPr id="127" name="TextBox 2"/>
          <p:cNvSpPr txBox="1"/>
          <p:nvPr/>
        </p:nvSpPr>
        <p:spPr>
          <a:xfrm>
            <a:off x="6000220" y="4190095"/>
            <a:ext cx="5057431" cy="1254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000"/>
            </a:pPr>
            <a:r>
              <a:t>- A reward model predicts how good a response is Initialize from a pretrained LLM</a:t>
            </a:r>
          </a:p>
          <a:p>
            <a:pPr>
              <a:defRPr sz="2000"/>
            </a:pPr>
            <a:r>
              <a:t>- </a:t>
            </a:r>
            <a:r>
              <a:t>Replace the language-model head with a scalar reward head</a:t>
            </a:r>
          </a:p>
        </p:txBody>
      </p:sp>
      <p:sp>
        <p:nvSpPr>
          <p:cNvPr id="128" name="Rectangle"/>
          <p:cNvSpPr/>
          <p:nvPr/>
        </p:nvSpPr>
        <p:spPr>
          <a:xfrm>
            <a:off x="78898" y="819665"/>
            <a:ext cx="5552576" cy="2604573"/>
          </a:xfrm>
          <a:prstGeom prst="rect">
            <a:avLst/>
          </a:prstGeom>
          <a:gradFill>
            <a:gsLst>
              <a:gs pos="0">
                <a:schemeClr val="accent4">
                  <a:hueOff val="-206663"/>
                  <a:satOff val="29896"/>
                  <a:lumOff val="29240"/>
                  <a:alpha val="14472"/>
                </a:schemeClr>
              </a:gs>
              <a:gs pos="35000">
                <a:srgbClr val="D8C9EE">
                  <a:alpha val="14472"/>
                </a:srgbClr>
              </a:gs>
              <a:gs pos="100000">
                <a:schemeClr val="accent4">
                  <a:hueOff val="-242556"/>
                  <a:satOff val="32941"/>
                  <a:lumOff val="43328"/>
                  <a:alpha val="14472"/>
                </a:schemeClr>
              </a:gs>
            </a:gsLst>
            <a:lin ang="16200000"/>
          </a:gradFill>
          <a:ln>
            <a:solidFill>
              <a:srgbClr val="7D60A0">
                <a:alpha val="14472"/>
              </a:srgbClr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>
              <a:defRPr sz="1600"/>
            </a:pPr>
          </a:p>
        </p:txBody>
      </p:sp>
      <p:sp>
        <p:nvSpPr>
          <p:cNvPr id="129" name="Rectangle"/>
          <p:cNvSpPr/>
          <p:nvPr/>
        </p:nvSpPr>
        <p:spPr>
          <a:xfrm>
            <a:off x="5752647" y="819665"/>
            <a:ext cx="5552576" cy="2604573"/>
          </a:xfrm>
          <a:prstGeom prst="rect">
            <a:avLst/>
          </a:prstGeom>
          <a:gradFill>
            <a:gsLst>
              <a:gs pos="0">
                <a:schemeClr val="accent4">
                  <a:hueOff val="-206663"/>
                  <a:satOff val="29896"/>
                  <a:lumOff val="29240"/>
                  <a:alpha val="14472"/>
                </a:schemeClr>
              </a:gs>
              <a:gs pos="35000">
                <a:srgbClr val="D8C9EE">
                  <a:alpha val="14472"/>
                </a:srgbClr>
              </a:gs>
              <a:gs pos="100000">
                <a:schemeClr val="accent4">
                  <a:hueOff val="-242556"/>
                  <a:satOff val="32941"/>
                  <a:lumOff val="43328"/>
                  <a:alpha val="14472"/>
                </a:schemeClr>
              </a:gs>
            </a:gsLst>
            <a:lin ang="16200000"/>
          </a:gradFill>
          <a:ln>
            <a:solidFill>
              <a:srgbClr val="7D60A0">
                <a:alpha val="14472"/>
              </a:srgbClr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>
              <a:defRPr sz="1600"/>
            </a:pPr>
          </a:p>
        </p:txBody>
      </p:sp>
      <p:sp>
        <p:nvSpPr>
          <p:cNvPr id="130" name="Rectangle"/>
          <p:cNvSpPr/>
          <p:nvPr/>
        </p:nvSpPr>
        <p:spPr>
          <a:xfrm>
            <a:off x="75078" y="3515100"/>
            <a:ext cx="5552577" cy="2604573"/>
          </a:xfrm>
          <a:prstGeom prst="rect">
            <a:avLst/>
          </a:prstGeom>
          <a:gradFill>
            <a:gsLst>
              <a:gs pos="0">
                <a:schemeClr val="accent4">
                  <a:hueOff val="-206663"/>
                  <a:satOff val="29896"/>
                  <a:lumOff val="29240"/>
                  <a:alpha val="14472"/>
                </a:schemeClr>
              </a:gs>
              <a:gs pos="35000">
                <a:srgbClr val="D8C9EE">
                  <a:alpha val="14472"/>
                </a:srgbClr>
              </a:gs>
              <a:gs pos="100000">
                <a:schemeClr val="accent4">
                  <a:hueOff val="-242556"/>
                  <a:satOff val="32941"/>
                  <a:lumOff val="43328"/>
                  <a:alpha val="14472"/>
                </a:schemeClr>
              </a:gs>
            </a:gsLst>
            <a:lin ang="16200000"/>
          </a:gradFill>
          <a:ln>
            <a:solidFill>
              <a:srgbClr val="7D60A0">
                <a:alpha val="14472"/>
              </a:srgbClr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>
              <a:defRPr sz="1600"/>
            </a:pPr>
          </a:p>
        </p:txBody>
      </p:sp>
      <p:sp>
        <p:nvSpPr>
          <p:cNvPr id="131" name="Rectangle"/>
          <p:cNvSpPr/>
          <p:nvPr/>
        </p:nvSpPr>
        <p:spPr>
          <a:xfrm>
            <a:off x="5752647" y="3515100"/>
            <a:ext cx="5552577" cy="2604573"/>
          </a:xfrm>
          <a:prstGeom prst="rect">
            <a:avLst/>
          </a:prstGeom>
          <a:gradFill>
            <a:gsLst>
              <a:gs pos="0">
                <a:schemeClr val="accent4">
                  <a:hueOff val="-206663"/>
                  <a:satOff val="29896"/>
                  <a:lumOff val="29240"/>
                  <a:alpha val="14472"/>
                </a:schemeClr>
              </a:gs>
              <a:gs pos="35000">
                <a:srgbClr val="D8C9EE">
                  <a:alpha val="14472"/>
                </a:srgbClr>
              </a:gs>
              <a:gs pos="100000">
                <a:schemeClr val="accent4">
                  <a:hueOff val="-242556"/>
                  <a:satOff val="32941"/>
                  <a:lumOff val="43328"/>
                  <a:alpha val="14472"/>
                </a:schemeClr>
              </a:gs>
            </a:gsLst>
            <a:lin ang="16200000"/>
          </a:gradFill>
          <a:ln>
            <a:solidFill>
              <a:srgbClr val="7D60A0">
                <a:alpha val="14472"/>
              </a:srgbClr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>
              <a:defRPr sz="1600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Box 1"/>
          <p:cNvSpPr txBox="1"/>
          <p:nvPr/>
        </p:nvSpPr>
        <p:spPr>
          <a:xfrm>
            <a:off x="502919" y="496713"/>
            <a:ext cx="2561591" cy="392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400"/>
            </a:lvl1pPr>
          </a:lstStyle>
          <a:p>
            <a:pPr/>
            <a:r>
              <a:t>Reward Model Loss</a:t>
            </a:r>
          </a:p>
        </p:txBody>
      </p:sp>
      <p:sp>
        <p:nvSpPr>
          <p:cNvPr id="134" name="TextBox 2"/>
          <p:cNvSpPr txBox="1"/>
          <p:nvPr/>
        </p:nvSpPr>
        <p:spPr>
          <a:xfrm>
            <a:off x="489436" y="979542"/>
            <a:ext cx="6306926" cy="9497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000"/>
            </a:pPr>
            <a:r>
              <a:t>- Train with cross-entropy over chosen vs rejected responses</a:t>
            </a:r>
          </a:p>
          <a:p>
            <a:pPr>
              <a:defRPr sz="2000"/>
            </a:pPr>
            <a:r>
              <a:t>- </a:t>
            </a:r>
            <a:r>
              <a:t>The loss encourages preferred outputs to get higher scores</a:t>
            </a:r>
          </a:p>
          <a:p>
            <a:pPr>
              <a:defRPr sz="2000"/>
            </a:pPr>
            <a:r>
              <a:t>- </a:t>
            </a:r>
            <a:r>
              <a:t>This reward signal is later used for alignment</a:t>
            </a:r>
          </a:p>
        </p:txBody>
      </p:sp>
      <p:sp>
        <p:nvSpPr>
          <p:cNvPr id="135" name="TextBox 1"/>
          <p:cNvSpPr txBox="1"/>
          <p:nvPr/>
        </p:nvSpPr>
        <p:spPr>
          <a:xfrm>
            <a:off x="523658" y="2348464"/>
            <a:ext cx="1826529" cy="392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400"/>
            </a:lvl1pPr>
          </a:lstStyle>
          <a:p>
            <a:pPr/>
            <a:r>
              <a:t>RLHF Pipeline</a:t>
            </a:r>
          </a:p>
        </p:txBody>
      </p:sp>
      <p:sp>
        <p:nvSpPr>
          <p:cNvPr id="136" name="TextBox 2"/>
          <p:cNvSpPr txBox="1"/>
          <p:nvPr/>
        </p:nvSpPr>
        <p:spPr>
          <a:xfrm>
            <a:off x="451507" y="2978970"/>
            <a:ext cx="6666221" cy="12545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000"/>
            </a:pPr>
            <a:r>
              <a:t>Step 1: Start with a pretrained base model</a:t>
            </a:r>
          </a:p>
          <a:p>
            <a:pPr>
              <a:defRPr sz="2000"/>
            </a:pPr>
            <a:r>
              <a:t>Step 2: Apply supervised finetuning (SFT)</a:t>
            </a:r>
          </a:p>
          <a:p>
            <a:pPr>
              <a:defRPr sz="2000"/>
            </a:pPr>
            <a:r>
              <a:t>Step 3: Train a reward model from preferences</a:t>
            </a:r>
          </a:p>
          <a:p>
            <a:pPr>
              <a:defRPr sz="2000"/>
            </a:pPr>
            <a:r>
              <a:t>Step 4: Optimize the aligned model with reinforcement learning</a:t>
            </a:r>
          </a:p>
        </p:txBody>
      </p:sp>
      <p:sp>
        <p:nvSpPr>
          <p:cNvPr id="137" name="TextBox 1"/>
          <p:cNvSpPr txBox="1"/>
          <p:nvPr/>
        </p:nvSpPr>
        <p:spPr>
          <a:xfrm>
            <a:off x="463674" y="4735266"/>
            <a:ext cx="4830327" cy="392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400"/>
            </a:lvl1pPr>
          </a:lstStyle>
          <a:p>
            <a:pPr/>
            <a:r>
              <a:t>Direct Preference Optimization (DPO)</a:t>
            </a:r>
          </a:p>
        </p:txBody>
      </p:sp>
      <p:sp>
        <p:nvSpPr>
          <p:cNvPr id="138" name="TextBox 2"/>
          <p:cNvSpPr txBox="1"/>
          <p:nvPr/>
        </p:nvSpPr>
        <p:spPr>
          <a:xfrm>
            <a:off x="463273" y="5261256"/>
            <a:ext cx="5667584" cy="949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000"/>
            </a:pPr>
            <a:r>
              <a:t>- Alternative to RLHF</a:t>
            </a:r>
          </a:p>
          <a:p>
            <a:pPr>
              <a:defRPr sz="2000"/>
            </a:pPr>
            <a:r>
              <a:t>- </a:t>
            </a:r>
            <a:r>
              <a:t>Optimizes preferences directly without explicit RL</a:t>
            </a:r>
          </a:p>
          <a:p>
            <a:pPr>
              <a:defRPr sz="2000"/>
            </a:pPr>
            <a:r>
              <a:t>- </a:t>
            </a:r>
            <a:r>
              <a:t>Often simpler and more stable than PPO-based RLHF</a:t>
            </a:r>
          </a:p>
        </p:txBody>
      </p:sp>
      <p:sp>
        <p:nvSpPr>
          <p:cNvPr id="139" name="Rectangle"/>
          <p:cNvSpPr/>
          <p:nvPr/>
        </p:nvSpPr>
        <p:spPr>
          <a:xfrm>
            <a:off x="210959" y="139065"/>
            <a:ext cx="7234783" cy="1965824"/>
          </a:xfrm>
          <a:prstGeom prst="rect">
            <a:avLst/>
          </a:prstGeom>
          <a:gradFill>
            <a:gsLst>
              <a:gs pos="0">
                <a:schemeClr val="accent4">
                  <a:hueOff val="-206663"/>
                  <a:satOff val="29896"/>
                  <a:lumOff val="29240"/>
                  <a:alpha val="14472"/>
                </a:schemeClr>
              </a:gs>
              <a:gs pos="35000">
                <a:srgbClr val="D8C9EE">
                  <a:alpha val="14472"/>
                </a:srgbClr>
              </a:gs>
              <a:gs pos="100000">
                <a:schemeClr val="accent4">
                  <a:hueOff val="-242556"/>
                  <a:satOff val="32941"/>
                  <a:lumOff val="43328"/>
                  <a:alpha val="14472"/>
                </a:schemeClr>
              </a:gs>
            </a:gsLst>
            <a:lin ang="16200000"/>
          </a:gradFill>
          <a:ln>
            <a:solidFill>
              <a:srgbClr val="7D60A0">
                <a:alpha val="14472"/>
              </a:srgbClr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>
              <a:defRPr sz="1600"/>
            </a:pPr>
          </a:p>
        </p:txBody>
      </p:sp>
      <p:sp>
        <p:nvSpPr>
          <p:cNvPr id="140" name="Rectangle"/>
          <p:cNvSpPr/>
          <p:nvPr/>
        </p:nvSpPr>
        <p:spPr>
          <a:xfrm>
            <a:off x="210959" y="2336301"/>
            <a:ext cx="7234783" cy="1965825"/>
          </a:xfrm>
          <a:prstGeom prst="rect">
            <a:avLst/>
          </a:prstGeom>
          <a:gradFill>
            <a:gsLst>
              <a:gs pos="0">
                <a:schemeClr val="accent4">
                  <a:hueOff val="-206663"/>
                  <a:satOff val="29896"/>
                  <a:lumOff val="29240"/>
                  <a:alpha val="14472"/>
                </a:schemeClr>
              </a:gs>
              <a:gs pos="35000">
                <a:srgbClr val="D8C9EE">
                  <a:alpha val="14472"/>
                </a:srgbClr>
              </a:gs>
              <a:gs pos="100000">
                <a:schemeClr val="accent4">
                  <a:hueOff val="-242556"/>
                  <a:satOff val="32941"/>
                  <a:lumOff val="43328"/>
                  <a:alpha val="14472"/>
                </a:schemeClr>
              </a:gs>
            </a:gsLst>
            <a:lin ang="16200000"/>
          </a:gradFill>
          <a:ln>
            <a:solidFill>
              <a:srgbClr val="7D60A0">
                <a:alpha val="14472"/>
              </a:srgbClr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>
              <a:defRPr sz="1600"/>
            </a:pPr>
          </a:p>
        </p:txBody>
      </p:sp>
      <p:sp>
        <p:nvSpPr>
          <p:cNvPr id="141" name="Rectangle"/>
          <p:cNvSpPr/>
          <p:nvPr/>
        </p:nvSpPr>
        <p:spPr>
          <a:xfrm>
            <a:off x="210959" y="4533537"/>
            <a:ext cx="7234783" cy="1965825"/>
          </a:xfrm>
          <a:prstGeom prst="rect">
            <a:avLst/>
          </a:prstGeom>
          <a:gradFill>
            <a:gsLst>
              <a:gs pos="0">
                <a:schemeClr val="accent4">
                  <a:hueOff val="-206663"/>
                  <a:satOff val="29896"/>
                  <a:lumOff val="29240"/>
                  <a:alpha val="14472"/>
                </a:schemeClr>
              </a:gs>
              <a:gs pos="35000">
                <a:srgbClr val="D8C9EE">
                  <a:alpha val="14472"/>
                </a:srgbClr>
              </a:gs>
              <a:gs pos="100000">
                <a:schemeClr val="accent4">
                  <a:hueOff val="-242556"/>
                  <a:satOff val="32941"/>
                  <a:lumOff val="43328"/>
                  <a:alpha val="14472"/>
                </a:schemeClr>
              </a:gs>
            </a:gsLst>
            <a:lin ang="16200000"/>
          </a:gradFill>
          <a:ln>
            <a:solidFill>
              <a:srgbClr val="7D60A0">
                <a:alpha val="14472"/>
              </a:srgbClr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>
              <a:defRPr sz="1600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Box 1"/>
          <p:cNvSpPr txBox="1"/>
          <p:nvPr/>
        </p:nvSpPr>
        <p:spPr>
          <a:xfrm>
            <a:off x="542165" y="339729"/>
            <a:ext cx="2543583" cy="392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400"/>
            </a:lvl1pPr>
          </a:lstStyle>
          <a:p>
            <a:pPr/>
            <a:r>
              <a:t>Test-Time Compute</a:t>
            </a:r>
          </a:p>
        </p:txBody>
      </p:sp>
      <p:sp>
        <p:nvSpPr>
          <p:cNvPr id="144" name="TextBox 2"/>
          <p:cNvSpPr txBox="1"/>
          <p:nvPr/>
        </p:nvSpPr>
        <p:spPr>
          <a:xfrm>
            <a:off x="476355" y="887968"/>
            <a:ext cx="6073141" cy="949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000"/>
            </a:pPr>
            <a:r>
              <a:t>- Extra computation at inference can improve quality</a:t>
            </a:r>
          </a:p>
          <a:p>
            <a:pPr>
              <a:defRPr sz="2000"/>
            </a:pPr>
            <a:r>
              <a:t>- </a:t>
            </a:r>
            <a:r>
              <a:t>Examples: chain-of-thought, self-consistency, tree search</a:t>
            </a:r>
          </a:p>
          <a:p>
            <a:pPr>
              <a:defRPr sz="2000"/>
            </a:pPr>
            <a:r>
              <a:t>- </a:t>
            </a:r>
            <a:r>
              <a:t>No retraining required</a:t>
            </a:r>
          </a:p>
        </p:txBody>
      </p:sp>
      <p:sp>
        <p:nvSpPr>
          <p:cNvPr id="145" name="TextBox 1"/>
          <p:cNvSpPr txBox="1"/>
          <p:nvPr/>
        </p:nvSpPr>
        <p:spPr>
          <a:xfrm>
            <a:off x="529083" y="2228994"/>
            <a:ext cx="3682862" cy="392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400"/>
            </a:lvl1pPr>
          </a:lstStyle>
          <a:p>
            <a:pPr/>
            <a:r>
              <a:t>Chain-of-Thought Reasoning</a:t>
            </a:r>
          </a:p>
        </p:txBody>
      </p:sp>
      <p:sp>
        <p:nvSpPr>
          <p:cNvPr id="146" name="TextBox 2"/>
          <p:cNvSpPr txBox="1"/>
          <p:nvPr/>
        </p:nvSpPr>
        <p:spPr>
          <a:xfrm>
            <a:off x="463273" y="2751069"/>
            <a:ext cx="4947628" cy="949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000"/>
            </a:pPr>
            <a:r>
              <a:t>- Prompt the model to reason step by step</a:t>
            </a:r>
          </a:p>
          <a:p>
            <a:pPr>
              <a:defRPr sz="2000"/>
            </a:pPr>
            <a:r>
              <a:t>- </a:t>
            </a:r>
            <a:r>
              <a:t>Improves arithmetic, logic, and planning tasks</a:t>
            </a:r>
          </a:p>
          <a:p>
            <a:pPr>
              <a:defRPr sz="2000"/>
            </a:pPr>
            <a:r>
              <a:t>- </a:t>
            </a:r>
            <a:r>
              <a:t>Encourages explicit intermediate reasoning</a:t>
            </a:r>
          </a:p>
        </p:txBody>
      </p:sp>
      <p:sp>
        <p:nvSpPr>
          <p:cNvPr id="147" name="TextBox 1"/>
          <p:cNvSpPr txBox="1"/>
          <p:nvPr/>
        </p:nvSpPr>
        <p:spPr>
          <a:xfrm>
            <a:off x="436245" y="4209832"/>
            <a:ext cx="3270162" cy="392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400"/>
            </a:lvl1pPr>
          </a:lstStyle>
          <a:p>
            <a:pPr/>
            <a:r>
              <a:t>Tradeoffs in Post-training</a:t>
            </a:r>
          </a:p>
        </p:txBody>
      </p:sp>
      <p:sp>
        <p:nvSpPr>
          <p:cNvPr id="148" name="TextBox 2"/>
          <p:cNvSpPr txBox="1"/>
          <p:nvPr/>
        </p:nvSpPr>
        <p:spPr>
          <a:xfrm>
            <a:off x="435844" y="4718826"/>
            <a:ext cx="5852876" cy="9497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000"/>
            </a:pPr>
            <a:r>
              <a:t>- Better alignment improves helpfulness and safety</a:t>
            </a:r>
          </a:p>
          <a:p>
            <a:pPr>
              <a:defRPr sz="2000"/>
            </a:pPr>
            <a:r>
              <a:t>- </a:t>
            </a:r>
            <a:r>
              <a:t>More compute increases latency and cost</a:t>
            </a:r>
          </a:p>
          <a:p>
            <a:pPr>
              <a:defRPr sz="2000"/>
            </a:pPr>
            <a:r>
              <a:t>- </a:t>
            </a:r>
            <a:r>
              <a:t>Practical systems balance quality, speed, and reliability</a:t>
            </a:r>
          </a:p>
        </p:txBody>
      </p:sp>
      <p:sp>
        <p:nvSpPr>
          <p:cNvPr id="149" name="Rectangle"/>
          <p:cNvSpPr/>
          <p:nvPr/>
        </p:nvSpPr>
        <p:spPr>
          <a:xfrm>
            <a:off x="340537" y="152147"/>
            <a:ext cx="7234783" cy="1965824"/>
          </a:xfrm>
          <a:prstGeom prst="rect">
            <a:avLst/>
          </a:prstGeom>
          <a:gradFill>
            <a:gsLst>
              <a:gs pos="0">
                <a:schemeClr val="accent4">
                  <a:hueOff val="-206663"/>
                  <a:satOff val="29896"/>
                  <a:lumOff val="29240"/>
                  <a:alpha val="14472"/>
                </a:schemeClr>
              </a:gs>
              <a:gs pos="35000">
                <a:srgbClr val="D8C9EE">
                  <a:alpha val="14472"/>
                </a:srgbClr>
              </a:gs>
              <a:gs pos="100000">
                <a:schemeClr val="accent4">
                  <a:hueOff val="-242556"/>
                  <a:satOff val="32941"/>
                  <a:lumOff val="43328"/>
                  <a:alpha val="14472"/>
                </a:schemeClr>
              </a:gs>
            </a:gsLst>
            <a:lin ang="16200000"/>
          </a:gradFill>
          <a:ln>
            <a:solidFill>
              <a:srgbClr val="7D60A0">
                <a:alpha val="14472"/>
              </a:srgbClr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>
              <a:defRPr sz="1600"/>
            </a:pPr>
          </a:p>
        </p:txBody>
      </p:sp>
      <p:sp>
        <p:nvSpPr>
          <p:cNvPr id="150" name="Rectangle"/>
          <p:cNvSpPr/>
          <p:nvPr/>
        </p:nvSpPr>
        <p:spPr>
          <a:xfrm>
            <a:off x="340537" y="2183371"/>
            <a:ext cx="7234783" cy="1965825"/>
          </a:xfrm>
          <a:prstGeom prst="rect">
            <a:avLst/>
          </a:prstGeom>
          <a:gradFill>
            <a:gsLst>
              <a:gs pos="0">
                <a:schemeClr val="accent4">
                  <a:hueOff val="-206663"/>
                  <a:satOff val="29896"/>
                  <a:lumOff val="29240"/>
                  <a:alpha val="14472"/>
                </a:schemeClr>
              </a:gs>
              <a:gs pos="35000">
                <a:srgbClr val="D8C9EE">
                  <a:alpha val="14472"/>
                </a:srgbClr>
              </a:gs>
              <a:gs pos="100000">
                <a:schemeClr val="accent4">
                  <a:hueOff val="-242556"/>
                  <a:satOff val="32941"/>
                  <a:lumOff val="43328"/>
                  <a:alpha val="14472"/>
                </a:schemeClr>
              </a:gs>
            </a:gsLst>
            <a:lin ang="16200000"/>
          </a:gradFill>
          <a:ln>
            <a:solidFill>
              <a:srgbClr val="7D60A0">
                <a:alpha val="14472"/>
              </a:srgbClr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>
              <a:defRPr sz="1600"/>
            </a:pPr>
          </a:p>
        </p:txBody>
      </p:sp>
      <p:sp>
        <p:nvSpPr>
          <p:cNvPr id="151" name="Rectangle"/>
          <p:cNvSpPr/>
          <p:nvPr/>
        </p:nvSpPr>
        <p:spPr>
          <a:xfrm>
            <a:off x="340537" y="4214601"/>
            <a:ext cx="7234783" cy="1965825"/>
          </a:xfrm>
          <a:prstGeom prst="rect">
            <a:avLst/>
          </a:prstGeom>
          <a:gradFill>
            <a:gsLst>
              <a:gs pos="0">
                <a:schemeClr val="accent4">
                  <a:hueOff val="-206663"/>
                  <a:satOff val="29896"/>
                  <a:lumOff val="29240"/>
                  <a:alpha val="14472"/>
                </a:schemeClr>
              </a:gs>
              <a:gs pos="35000">
                <a:srgbClr val="D8C9EE">
                  <a:alpha val="14472"/>
                </a:srgbClr>
              </a:gs>
              <a:gs pos="100000">
                <a:schemeClr val="accent4">
                  <a:hueOff val="-242556"/>
                  <a:satOff val="32941"/>
                  <a:lumOff val="43328"/>
                  <a:alpha val="14472"/>
                </a:schemeClr>
              </a:gs>
            </a:gsLst>
            <a:lin ang="16200000"/>
          </a:gradFill>
          <a:ln>
            <a:solidFill>
              <a:srgbClr val="7D60A0">
                <a:alpha val="14472"/>
              </a:srgbClr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>
              <a:defRPr sz="1600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Box 1"/>
          <p:cNvSpPr txBox="1"/>
          <p:nvPr/>
        </p:nvSpPr>
        <p:spPr>
          <a:xfrm>
            <a:off x="568329" y="1883400"/>
            <a:ext cx="1860164" cy="392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400"/>
            </a:lvl1pPr>
          </a:lstStyle>
          <a:p>
            <a:pPr/>
            <a:r>
              <a:t>Key Takeaway</a:t>
            </a:r>
          </a:p>
        </p:txBody>
      </p:sp>
      <p:sp>
        <p:nvSpPr>
          <p:cNvPr id="154" name="TextBox 2"/>
          <p:cNvSpPr txBox="1"/>
          <p:nvPr/>
        </p:nvSpPr>
        <p:spPr>
          <a:xfrm>
            <a:off x="842649" y="2706360"/>
            <a:ext cx="7364101" cy="9497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000"/>
            </a:pPr>
            <a:r>
              <a:t>- Pretraining creates a language model</a:t>
            </a:r>
          </a:p>
          <a:p>
            <a:pPr>
              <a:defRPr sz="2000"/>
            </a:pPr>
            <a:r>
              <a:t>- </a:t>
            </a:r>
            <a:r>
              <a:t>Post-training creates an assistant</a:t>
            </a:r>
          </a:p>
          <a:p>
            <a:pPr>
              <a:defRPr sz="2000"/>
            </a:pPr>
            <a:r>
              <a:t>- </a:t>
            </a:r>
            <a:r>
              <a:t>Instruction tuning, alignment, and test-time compute are all essential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